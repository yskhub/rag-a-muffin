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1645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F0FF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RAG-a-Muffin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F0FF"/>
                </a:solidFill>
                <a:latin typeface="Calibri"/>
              </a:defRPr>
            </a:pPr>
            <a:r>
              <a:t>AI Context Engine — Retrieval-Augmented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38912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An enterprise-grade AI assistant powered by RAG,</a:t>
            </a:r>
            <a:br/>
            <a:r>
              <a:t>built entirely on free-tier services. Total cost: $0.00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5486400"/>
            <a:ext cx="576072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55778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🌐 rag-a-muffin.vercel.app    |    📅 February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7171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Static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Traditional AI chatbots only know what they were trained on.</a:t>
            </a:r>
            <a:br/>
            <a:r>
              <a:t>They can't answer questions about YOUR specific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7171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Hallucination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Without grounding in real data, AI confidently makes up</a:t>
            </a:r>
            <a:br/>
            <a:r>
              <a:t>information that sounds correct but is completely wrong.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069848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7171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Cost Barrier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486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Enterprise AI solutions cost hundreds per month.</a:t>
            </a:r>
            <a:br/>
            <a:r>
              <a:t>Small teams and students can't afford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Solution: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F0FF"/>
                </a:solidFill>
                <a:latin typeface="Calibri"/>
              </a:defRPr>
            </a:pPr>
            <a:r>
              <a:t>Retrieval-Augmented Generation — AI grounded in YOUR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60320" cy="3200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2560320"/>
            <a:ext cx="640080" cy="640080"/>
          </a:xfrm>
          <a:prstGeom prst="ellipse">
            <a:avLst/>
          </a:prstGeom>
          <a:solidFill>
            <a:srgbClr val="05101E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606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0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Documents are chunked and</a:t>
            </a:r>
            <a:br/>
            <a:r>
              <a:t>converted to vector embeddings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286000"/>
            <a:ext cx="2560320" cy="3200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2560320"/>
            <a:ext cx="640080" cy="640080"/>
          </a:xfrm>
          <a:prstGeom prst="ellipse">
            <a:avLst/>
          </a:prstGeom>
          <a:solidFill>
            <a:srgbClr val="05101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606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Retrieve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User queries are matched against</a:t>
            </a:r>
            <a:br/>
            <a:r>
              <a:t>the vector database for relevant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2560320" cy="3200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60920" y="2560320"/>
            <a:ext cx="640080" cy="640080"/>
          </a:xfrm>
          <a:prstGeom prst="ellipse">
            <a:avLst/>
          </a:prstGeom>
          <a:solidFill>
            <a:srgbClr val="05101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606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Augment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Retrieved context is injected into</a:t>
            </a:r>
            <a:br/>
            <a:r>
              <a:t>the AI prompt as grounding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286000"/>
            <a:ext cx="2560320" cy="3200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95560" y="2560320"/>
            <a:ext cx="640080" cy="640080"/>
          </a:xfrm>
          <a:prstGeom prst="ellipse">
            <a:avLst/>
          </a:prstGeom>
          <a:solidFill>
            <a:srgbClr val="05101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606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78BF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Gemini generates an answer based</a:t>
            </a:r>
            <a:br/>
            <a:r>
              <a:t>on YOUR data, not hallucination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5760720"/>
            <a:ext cx="75895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585216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FFC1"/>
                </a:solidFill>
                <a:latin typeface="Calibri"/>
              </a:defRPr>
            </a:pPr>
            <a:r>
              <a:t>💡 The AI doesn't guess — it retrieves. Every answer is grounded in real documents.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7472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240280"/>
            <a:ext cx="137160" cy="13716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F0FF"/>
                </a:solidFill>
                <a:latin typeface="Calibri"/>
              </a:defRPr>
            </a:pPr>
            <a:r>
              <a:t>React + Zustand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Vercel (Free)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011680"/>
            <a:ext cx="347472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0" y="224028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  <a:latin typeface="Calibri"/>
              </a:defRPr>
            </a:pPr>
            <a:r>
              <a:t>FastAPI +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Render (Free)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347472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94959" y="224028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79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Calibri"/>
              </a:defRPr>
            </a:pPr>
            <a:r>
              <a:t>Google Gemini 2.0 Flash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Free — 15 RPM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011680"/>
            <a:ext cx="411480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9520" y="224028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Vector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8BFA"/>
                </a:solidFill>
                <a:latin typeface="Calibri"/>
              </a:defRPr>
            </a:pPr>
            <a:r>
              <a:t>ChromaDB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In-Memory (Free)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4572000"/>
            <a:ext cx="576072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754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Total Infrastructure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2120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4D399"/>
                </a:solidFill>
                <a:latin typeface="Calibri"/>
              </a:defRPr>
            </a:pPr>
            <a:r>
              <a:t>$0.00 / month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760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No credit card required. 100% free-tier services.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F0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474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788920"/>
            <a:ext cx="137160" cy="13716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Component-based UI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3474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3794760"/>
            <a:ext cx="137160" cy="13716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Zustand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Lightweight state management with persistence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3474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800600"/>
            <a:ext cx="137160" cy="13716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Vite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Lightning-fast build tool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3474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5806440"/>
            <a:ext cx="137160" cy="13716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React-Markdown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89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Markdown rendering for AI responses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2468880"/>
            <a:ext cx="3474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09159" y="278892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79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79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High-performance Python API framework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3474720"/>
            <a:ext cx="3474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09159" y="379476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79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Google Gemini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79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Free LLM — 2.0 Flash (latest)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59" y="4480560"/>
            <a:ext cx="3474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09159" y="480060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79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ChromaDB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79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Open-source vector embedding database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59" y="5486400"/>
            <a:ext cx="3474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09159" y="580644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79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In-Memory 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79" y="589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Session-based conversation memory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2468880"/>
            <a:ext cx="3474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58200" y="278892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Frontend hosting with auto-deploy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3474720"/>
            <a:ext cx="3474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58200" y="379476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Backend hosting with free tier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4480560"/>
            <a:ext cx="3474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58200" y="48006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3252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Version control &amp; CI/CD trigger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5486400"/>
            <a:ext cx="3474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458200" y="580644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3252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CORS + GZip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589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Security &amp; performance middleware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RAG Pipeline — 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7472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0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User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User sends a question</a:t>
            </a:r>
            <a:br/>
            <a:r>
              <a:t>through the chat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011680"/>
            <a:ext cx="347472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Vector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108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ChromaDB searches for</a:t>
            </a:r>
            <a:br/>
            <a:r>
              <a:t>relevant document chunks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47472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Context Building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089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Top-5 relevant fragments</a:t>
            </a:r>
            <a:br/>
            <a:r>
              <a:t>are assembled as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347472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26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Memory Injection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86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Last 5 conversation messages</a:t>
            </a:r>
            <a:br/>
            <a:r>
              <a:t>are added for continuity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389120"/>
            <a:ext cx="347472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79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526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0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LLM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5486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Gemini generates answer</a:t>
            </a:r>
            <a:br/>
            <a:r>
              <a:t>grounded in retrieved context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389120"/>
            <a:ext cx="347472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526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Source Citation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486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Response includes source</a:t>
            </a:r>
            <a:br/>
            <a:r>
              <a:t>badges proving data origin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Quick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Pre-built prompt suggestions guide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47472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Response Timer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423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Tracks generation time per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47472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Live Health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423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Real-time backend monitoring every 30s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40"/>
            <a:ext cx="347472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Markdown Rendering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 responses with bold, lists, code blocks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291840"/>
            <a:ext cx="347472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Feedback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3886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Thumbs up/down on every AI 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91840"/>
            <a:ext cx="347472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886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Live document count from backend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754880"/>
            <a:ext cx="347472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892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Chat 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Copy entire conversation to clipboard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59" y="4754880"/>
            <a:ext cx="347472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79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⌨️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4892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Keyboard Shortcuts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79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Ctrl+K clear, Ctrl+E export, Enter send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754880"/>
            <a:ext cx="3474720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892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Session History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Auto-saved sessions with load/delete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Enterprise UI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Professional dark theme with glassmorphism, live metrics, and responsive 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3035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331720"/>
            <a:ext cx="109728" cy="109728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3-Column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Chat (7) + Metrics (3) + AI Core (2)</a:t>
            </a:r>
            <a:br/>
            <a:r>
              <a:t>12-column responsive grid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103120"/>
            <a:ext cx="53035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59" y="2331720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79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Glassmorphism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79" y="2651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Semi-transparent cards with backdrop blur</a:t>
            </a:r>
            <a:br/>
            <a:r>
              <a:t>and subtle borders for depth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3035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88620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Live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062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Real-time metrics, subsystem status,</a:t>
            </a:r>
            <a:br/>
            <a:r>
              <a:t>and activity log updating continuously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657600"/>
            <a:ext cx="53035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59" y="388620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79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Chat Bubbles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79" y="42062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User (right, cyan) and AI (left, slate)</a:t>
            </a:r>
            <a:br/>
            <a:r>
              <a:t>with inline source citations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12079"/>
            <a:ext cx="53035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5440679"/>
            <a:ext cx="109728" cy="109728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5303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Typography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76071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Space Grotesk (headings), Inter (body),</a:t>
            </a:r>
            <a:br/>
            <a:r>
              <a:t>JetBrains Mono (code)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5212079"/>
            <a:ext cx="53035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66559" y="5440679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79" y="5303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Micro-Animations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576071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Float, slide-up, pulse-glow, scanline</a:t>
            </a:r>
            <a:br/>
            <a:r>
              <a:t>for premium interactive feel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F0FF"/>
                </a:solidFill>
                <a:latin typeface="Calibri"/>
              </a:defRPr>
            </a:pPr>
            <a:r>
              <a:t>rag-a-muffin.vercel.app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3035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77439"/>
            <a:ext cx="457200" cy="457200"/>
          </a:xfrm>
          <a:prstGeom prst="ellipse">
            <a:avLst/>
          </a:prstGeom>
          <a:solidFill>
            <a:srgbClr val="0020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0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Seed Knowledge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06039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Admin → Initialize Sample Data</a:t>
            </a:r>
            <a:br/>
            <a:r>
              <a:t>(Products, Policies, Shipping)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286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103120"/>
            <a:ext cx="53035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2377439"/>
            <a:ext cx="457200" cy="457200"/>
          </a:xfrm>
          <a:prstGeom prst="ellipse">
            <a:avLst/>
          </a:prstGeom>
          <a:solidFill>
            <a:srgbClr val="0020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39572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0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Product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06039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"What headphones do you sell?"</a:t>
            </a:r>
            <a:br/>
            <a:r>
              <a:t>→ Retrieves from Catalog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2286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45s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53035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0020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0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Policy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605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"What is your return policy?"</a:t>
            </a:r>
            <a:br/>
            <a:r>
              <a:t>→ Retrieves from FAQ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840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657600"/>
            <a:ext cx="53035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0" y="3931920"/>
            <a:ext cx="457200" cy="457200"/>
          </a:xfrm>
          <a:prstGeom prst="ellipse">
            <a:avLst/>
          </a:prstGeom>
          <a:solidFill>
            <a:srgbClr val="0020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950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0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Memory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1605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"Can I return those headphones?"</a:t>
            </a:r>
            <a:br/>
            <a:r>
              <a:t>→ Combines both contexts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3840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212079"/>
            <a:ext cx="53035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5486399"/>
            <a:ext cx="457200" cy="457200"/>
          </a:xfrm>
          <a:prstGeom prst="ellipse">
            <a:avLst/>
          </a:prstGeom>
          <a:solidFill>
            <a:srgbClr val="0020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04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0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303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Honesty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714999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"Do you sell laptops?"</a:t>
            </a:r>
            <a:br/>
            <a:r>
              <a:t>→ AI says "I don't have that info"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39495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5212079"/>
            <a:ext cx="53035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675120" y="5486399"/>
            <a:ext cx="457200" cy="457200"/>
          </a:xfrm>
          <a:prstGeom prst="ellipse">
            <a:avLst/>
          </a:prstGeom>
          <a:solidFill>
            <a:srgbClr val="002030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504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0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303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714999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Feedback, Export, History,</a:t>
            </a:r>
            <a:br/>
            <a:r>
              <a:t>Keyboard Shortcuts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539495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Calibri"/>
              </a:defRPr>
            </a:pPr>
            <a:r>
              <a:t>Problem: Gemini free tier: 15 RPM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✅ Self-limit to 10 RPM + 4s min gap</a:t>
            </a:r>
            <a:br/>
            <a:r>
              <a:t>+ exponential backoff (15→30→60s)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69848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Cold Starts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Calibri"/>
              </a:defRPr>
            </a:pPr>
            <a:r>
              <a:t>Problem: Render free tier sleeps after 15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154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5467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✅ 120s frontend timeout + live health</a:t>
            </a:r>
            <a:br/>
            <a:r>
              <a:t>check with visual status indicator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69848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976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Stale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Calibri"/>
              </a:defRPr>
            </a:pPr>
            <a:r>
              <a:t>Problem: Rate-limit errors cached in localStorage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43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✅ Transient error filter on rehydration</a:t>
            </a:r>
            <a:br/>
            <a:r>
              <a:t>+ manual Clear Chat button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CSS in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897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Calibri"/>
              </a:defRPr>
            </a:pPr>
            <a:r>
              <a:t>Problem: Tailwind 4 not processing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532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✅ @tailwindcss/vite plugin added to</a:t>
            </a:r>
            <a:br/>
            <a:r>
              <a:t>vite.config.js — fixed all styling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Results &amp;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  <a:latin typeface="Calibri"/>
              </a:defRPr>
            </a:pPr>
            <a:r>
              <a:t>$0.00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Monthly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100% free-tier</a:t>
            </a:r>
            <a:br/>
            <a:r>
              <a:t>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11680"/>
            <a:ext cx="256032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0FF"/>
                </a:solidFill>
                <a:latin typeface="Calibri"/>
              </a:defRPr>
            </a:pPr>
            <a:r>
              <a:t>&lt; 3s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Average query-to-answer</a:t>
            </a:r>
            <a:br/>
            <a:r>
              <a:t>with RAG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56032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UI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Production-grade</a:t>
            </a:r>
            <a:br/>
            <a:r>
              <a:t>enterprise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011680"/>
            <a:ext cx="256032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Hallucinations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RAG-grounded responses</a:t>
            </a:r>
            <a:br/>
            <a:r>
              <a:t>with source citations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0FF"/>
                </a:solidFill>
                <a:latin typeface="Calibri"/>
              </a:defRPr>
            </a:pPr>
            <a:r>
              <a:t>Key Achievement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94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 Built a fully functional RAG system with document ingestion, vector search, and contextual AI generation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 Enterprise-grade UI with live monitoring, session management, markdown rendering, and feedback system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 Zero-cost deployment using Vercel + Render + Gemini free tiers — no credit card required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 Production patterns: rate limiting, error recovery, exponential backoff, state 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F0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474720"/>
            <a:ext cx="667512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🌐  Live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65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rag-a-muffin.vercel.app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⚙️  Backend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rag-a-muffin.onrender.com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📂  Source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github.com/yskhub/RAG-a-Muffin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🛠️  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029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React · FastAPI · Gemini · ChromaDB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Built entirely on free-tier services  ·  Total cost: $0.00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